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73" r:id="rId5"/>
    <p:sldId id="1000" r:id="rId6"/>
    <p:sldId id="1001" r:id="rId7"/>
    <p:sldId id="1002" r:id="rId8"/>
    <p:sldId id="1004" r:id="rId9"/>
    <p:sldId id="1005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14D"/>
    <a:srgbClr val="D00427"/>
    <a:srgbClr val="27187E"/>
    <a:srgbClr val="FF8400"/>
    <a:srgbClr val="CF824D"/>
    <a:srgbClr val="27180D"/>
    <a:srgbClr val="FF8600"/>
    <a:srgbClr val="271888"/>
    <a:srgbClr val="FF8F47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CAGNI VALERIA" userId="5036e1c6-3a0f-40bb-92cd-bbe2a45489f3" providerId="ADAL" clId="{F86C7447-5914-45F8-97F6-058170EB1036}"/>
    <pc:docChg chg="modSld">
      <pc:chgData name="CALCAGNI VALERIA" userId="5036e1c6-3a0f-40bb-92cd-bbe2a45489f3" providerId="ADAL" clId="{F86C7447-5914-45F8-97F6-058170EB1036}" dt="2026-09-08T15:31:30.649" v="3"/>
      <pc:docMkLst>
        <pc:docMk/>
      </pc:docMkLst>
    </pc:docChg>
  </pc:docChgLst>
  <pc:docChgLst>
    <pc:chgData name="Massimo  Giustiniani" userId="02c4a533-5d0a-45fd-8210-e549fb1f2447" providerId="ADAL" clId="{DCB270A6-607D-4F12-B273-C68FC82E32BB}"/>
    <pc:docChg chg="delSld">
      <pc:chgData name="Massimo  Giustiniani" userId="02c4a533-5d0a-45fd-8210-e549fb1f2447" providerId="ADAL" clId="{DCB270A6-607D-4F12-B273-C68FC82E32BB}" dt="2026-09-30T08:35:08.387" v="0" actId="47"/>
      <pc:docMkLst>
        <pc:docMk/>
      </pc:docMkLst>
      <pc:sldChg chg="del">
        <pc:chgData name="Massimo  Giustiniani" userId="02c4a533-5d0a-45fd-8210-e549fb1f2447" providerId="ADAL" clId="{DCB270A6-607D-4F12-B273-C68FC82E32BB}" dt="2026-09-30T08:35:08.387" v="0" actId="47"/>
        <pc:sldMkLst>
          <pc:docMk/>
          <pc:sldMk cId="0" sldId="100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3DEB0BE-CC2A-DB91-CD4A-9BFD611F89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7E9C523-8AD2-A643-07FD-4DB5D5F23F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C5676-DD2E-47D9-8135-1670A0978858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82A10B8-E4F5-8115-98D8-9847EC127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0F5BE7-77ED-37CB-0664-CC058E9FC0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9C0AB-C5DB-46A9-8D37-DA018F1F3A8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0110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F4881-E433-4688-BF8E-6E0EDBF71546}" type="datetimeFigureOut">
              <a:rPr lang="it-IT" smtClean="0"/>
              <a:t>30/09/2026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FB1A4-A3C8-401C-89BD-E35A785673B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669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ertina">
    <p:bg>
      <p:bgPr>
        <a:gradFill flip="none" rotWithShape="1">
          <a:gsLst>
            <a:gs pos="0">
              <a:srgbClr val="27187E"/>
            </a:gs>
            <a:gs pos="100000">
              <a:srgbClr val="DEDBED"/>
            </a:gs>
            <a:gs pos="100000">
              <a:srgbClr val="BCB7DA"/>
            </a:gs>
            <a:gs pos="33000">
              <a:srgbClr val="271888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BDB473D-6796-65C7-1AA8-2C00AF81E251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sp>
        <p:nvSpPr>
          <p:cNvPr id="31" name="Segnaposto testo 30">
            <a:extLst>
              <a:ext uri="{FF2B5EF4-FFF2-40B4-BE49-F238E27FC236}">
                <a16:creationId xmlns:a16="http://schemas.microsoft.com/office/drawing/2014/main" id="{40A6292A-F1E0-F945-7464-EF36E2DA30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1062" y="5254625"/>
            <a:ext cx="5926683" cy="1938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it-IT" sz="1400" kern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lang="it-IT" sz="1800" dirty="0" smtClean="0"/>
            </a:lvl2pPr>
            <a:lvl3pPr marL="685800" indent="0">
              <a:buNone/>
              <a:defRPr lang="it-IT" sz="1800" dirty="0" smtClean="0"/>
            </a:lvl3pPr>
            <a:lvl4pPr marL="1143000" indent="0">
              <a:buNone/>
              <a:defRPr lang="it-IT" dirty="0" smtClean="0"/>
            </a:lvl4pPr>
            <a:lvl5pPr marL="1600200" indent="0">
              <a:buNone/>
              <a:defRPr lang="it-IT" dirty="0"/>
            </a:lvl5pPr>
          </a:lstStyle>
          <a:p>
            <a:pPr marL="0" lvl="0">
              <a:tabLst>
                <a:tab pos="1710690" algn="l"/>
              </a:tabLst>
            </a:pPr>
            <a:r>
              <a:rPr lang="it-IT" noProof="0"/>
              <a:t>gg/mm/</a:t>
            </a:r>
            <a:r>
              <a:rPr lang="it-IT" noProof="0" err="1"/>
              <a:t>aaaa</a:t>
            </a:r>
            <a:endParaRPr lang="it-IT" noProof="0"/>
          </a:p>
        </p:txBody>
      </p:sp>
      <p:sp>
        <p:nvSpPr>
          <p:cNvPr id="21" name="Segnaposto testo 19">
            <a:extLst>
              <a:ext uri="{FF2B5EF4-FFF2-40B4-BE49-F238E27FC236}">
                <a16:creationId xmlns:a16="http://schemas.microsoft.com/office/drawing/2014/main" id="{6C8EB686-1317-573F-BE51-98B03F3F9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0844" y="3150635"/>
            <a:ext cx="5926902" cy="387798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it-IT" kern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lang="it-IT" sz="1800" dirty="0" smtClean="0"/>
            </a:lvl2pPr>
            <a:lvl3pPr marL="685800" indent="0">
              <a:buNone/>
              <a:defRPr lang="it-IT" sz="1800" dirty="0" smtClean="0"/>
            </a:lvl3pPr>
            <a:lvl4pPr marL="1143000" indent="0">
              <a:buNone/>
              <a:defRPr lang="it-IT" dirty="0" smtClean="0"/>
            </a:lvl4pPr>
            <a:lvl5pPr marL="1600200" indent="0">
              <a:buNone/>
              <a:defRPr lang="it-IT" dirty="0"/>
            </a:lvl5pPr>
          </a:lstStyle>
          <a:p>
            <a:pPr marL="0" lvl="0">
              <a:tabLst>
                <a:tab pos="1710690" algn="l"/>
              </a:tabLst>
            </a:pPr>
            <a:r>
              <a:rPr lang="it-IT" noProof="0"/>
              <a:t>Sottotitolo presentazione </a:t>
            </a:r>
          </a:p>
        </p:txBody>
      </p:sp>
      <p:sp>
        <p:nvSpPr>
          <p:cNvPr id="29" name="Segnaposto testo 27">
            <a:extLst>
              <a:ext uri="{FF2B5EF4-FFF2-40B4-BE49-F238E27FC236}">
                <a16:creationId xmlns:a16="http://schemas.microsoft.com/office/drawing/2014/main" id="{24984642-9D8F-47AD-B701-5605797C3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1063" y="1517121"/>
            <a:ext cx="5926682" cy="1329595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lang="it-IT" sz="4800" b="1" kern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>
                <a:tab pos="1710690" algn="l"/>
              </a:tabLst>
            </a:pPr>
            <a:r>
              <a:rPr lang="it-IT" noProof="0"/>
              <a:t>Titolo presentazione 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696C1FD-D013-78EA-1474-349DE52CBB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3333" y="1938232"/>
            <a:ext cx="3478457" cy="2981536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BFE1CDF8-66A1-F062-10C6-2FA9ABBCBCCB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F23FD8D-1A93-8671-16B9-A1A408C9B9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9F34C0F-EC91-EACF-5085-442ED4C695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cxnSp>
        <p:nvCxnSpPr>
          <p:cNvPr id="3" name="Connettore dritto 2">
            <a:extLst>
              <a:ext uri="{FF2B5EF4-FFF2-40B4-BE49-F238E27FC236}">
                <a16:creationId xmlns:a16="http://schemas.microsoft.com/office/drawing/2014/main" id="{9D36DB1A-24B1-D2B9-11A2-C8495A748FDB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magine 10">
            <a:extLst>
              <a:ext uri="{FF2B5EF4-FFF2-40B4-BE49-F238E27FC236}">
                <a16:creationId xmlns:a16="http://schemas.microsoft.com/office/drawing/2014/main" id="{83850EC3-7ED8-3856-C57B-2BD2EFDCA4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2651E4B-215A-1E12-5F83-398A4E7E36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59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itolo">
    <p:bg>
      <p:bgPr>
        <a:gradFill flip="none" rotWithShape="1">
          <a:gsLst>
            <a:gs pos="0">
              <a:srgbClr val="27187E"/>
            </a:gs>
            <a:gs pos="100000">
              <a:srgbClr val="DEDBED"/>
            </a:gs>
            <a:gs pos="100000">
              <a:srgbClr val="BCB7DA"/>
            </a:gs>
            <a:gs pos="33000">
              <a:srgbClr val="271888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127078A1-4A40-9F4D-60AB-A4CC5E749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7685" y="2888562"/>
            <a:ext cx="5107084" cy="2257869"/>
          </a:xfrm>
          <a:prstGeom prst="rect">
            <a:avLst/>
          </a:prstGeom>
        </p:spPr>
      </p:pic>
      <p:sp>
        <p:nvSpPr>
          <p:cNvPr id="19" name="Rettangolo 18">
            <a:extLst>
              <a:ext uri="{FF2B5EF4-FFF2-40B4-BE49-F238E27FC236}">
                <a16:creationId xmlns:a16="http://schemas.microsoft.com/office/drawing/2014/main" id="{98EDC1D9-867F-DD64-B996-AD72A61A3DBB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F2E7052-1EA2-9DB3-DAC5-6EEAB1AE2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8951E21-8413-077C-D6F0-4B364814E5A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30" name="Segnaposto testo 30">
            <a:extLst>
              <a:ext uri="{FF2B5EF4-FFF2-40B4-BE49-F238E27FC236}">
                <a16:creationId xmlns:a16="http://schemas.microsoft.com/office/drawing/2014/main" id="{A348A67B-1AEE-916E-D33B-E11835358BE0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81062" y="5254625"/>
            <a:ext cx="5926683" cy="1938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it-IT" sz="1400" kern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lang="it-IT" sz="1800" dirty="0" smtClean="0"/>
            </a:lvl2pPr>
            <a:lvl3pPr marL="685800" indent="0">
              <a:buNone/>
              <a:defRPr lang="it-IT" sz="1800" dirty="0" smtClean="0"/>
            </a:lvl3pPr>
            <a:lvl4pPr marL="1143000" indent="0">
              <a:buNone/>
              <a:defRPr lang="it-IT" dirty="0" smtClean="0"/>
            </a:lvl4pPr>
            <a:lvl5pPr marL="1600200" indent="0">
              <a:buNone/>
              <a:defRPr lang="it-IT" dirty="0"/>
            </a:lvl5pPr>
          </a:lstStyle>
          <a:p>
            <a:pPr marL="0" lvl="0">
              <a:tabLst>
                <a:tab pos="1710690" algn="l"/>
              </a:tabLst>
            </a:pPr>
            <a:r>
              <a:rPr lang="it-IT" noProof="0"/>
              <a:t>gg/mm/</a:t>
            </a:r>
            <a:r>
              <a:rPr lang="it-IT" noProof="0" err="1"/>
              <a:t>aaaa</a:t>
            </a:r>
            <a:endParaRPr lang="it-IT" noProof="0"/>
          </a:p>
        </p:txBody>
      </p:sp>
      <p:sp>
        <p:nvSpPr>
          <p:cNvPr id="32" name="Segnaposto testo 19">
            <a:extLst>
              <a:ext uri="{FF2B5EF4-FFF2-40B4-BE49-F238E27FC236}">
                <a16:creationId xmlns:a16="http://schemas.microsoft.com/office/drawing/2014/main" id="{668582C6-E9F3-0147-0809-569321F4272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80844" y="3150635"/>
            <a:ext cx="5926902" cy="387798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it-IT" kern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lang="it-IT" sz="1800" dirty="0" smtClean="0"/>
            </a:lvl2pPr>
            <a:lvl3pPr marL="685800" indent="0">
              <a:buNone/>
              <a:defRPr lang="it-IT" sz="1800" dirty="0" smtClean="0"/>
            </a:lvl3pPr>
            <a:lvl4pPr marL="1143000" indent="0">
              <a:buNone/>
              <a:defRPr lang="it-IT" dirty="0" smtClean="0"/>
            </a:lvl4pPr>
            <a:lvl5pPr marL="1600200" indent="0">
              <a:buNone/>
              <a:defRPr lang="it-IT" dirty="0"/>
            </a:lvl5pPr>
          </a:lstStyle>
          <a:p>
            <a:pPr marL="0" lvl="0">
              <a:tabLst>
                <a:tab pos="1710690" algn="l"/>
              </a:tabLst>
            </a:pPr>
            <a:r>
              <a:rPr lang="it-IT" noProof="0"/>
              <a:t>Sottotitolo presentazione </a:t>
            </a:r>
          </a:p>
        </p:txBody>
      </p:sp>
      <p:sp>
        <p:nvSpPr>
          <p:cNvPr id="33" name="Segnaposto testo 27">
            <a:extLst>
              <a:ext uri="{FF2B5EF4-FFF2-40B4-BE49-F238E27FC236}">
                <a16:creationId xmlns:a16="http://schemas.microsoft.com/office/drawing/2014/main" id="{E43BCAA5-F1F5-424D-5E06-41E76A842B7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81063" y="1517121"/>
            <a:ext cx="5926682" cy="1329595"/>
          </a:xfrm>
          <a:noFill/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lang="it-IT" sz="4800" b="1" kern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>
                <a:tab pos="1710690" algn="l"/>
              </a:tabLst>
            </a:pPr>
            <a:r>
              <a:rPr lang="it-IT" noProof="0"/>
              <a:t>Titolo presentazione 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3A79DCE-9ACD-42C7-216D-D624B0D6A92D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11" name="Connettore dritto 2">
            <a:extLst>
              <a:ext uri="{FF2B5EF4-FFF2-40B4-BE49-F238E27FC236}">
                <a16:creationId xmlns:a16="http://schemas.microsoft.com/office/drawing/2014/main" id="{50710EBB-E48E-C607-9260-ACBAEE506035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magine 11">
            <a:extLst>
              <a:ext uri="{FF2B5EF4-FFF2-40B4-BE49-F238E27FC236}">
                <a16:creationId xmlns:a16="http://schemas.microsoft.com/office/drawing/2014/main" id="{93AE5103-6EB7-3799-5C10-59F99A860C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D5670849-F233-DB64-CF48-E200CEAB8F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52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D74FD12-8E52-FFB8-DD9B-EE2816E0B29F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0681C5E-4D14-5A2B-2375-D884481D88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4EE2EEE-C7CF-FECD-948B-3B9F76445F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B4CDFB5-1503-B1CE-2FD4-A3AEA766572C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6" name="Connettore dritto 2">
            <a:extLst>
              <a:ext uri="{FF2B5EF4-FFF2-40B4-BE49-F238E27FC236}">
                <a16:creationId xmlns:a16="http://schemas.microsoft.com/office/drawing/2014/main" id="{706CD5FA-C249-FCBA-1591-9082F35AB942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5356E0E6-8ACD-1571-AC88-B5ABB27BB1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E13AE09-C9C9-6CAE-DF3F-B7E05DB0E22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BCB59C01-9FB1-1A82-82F2-47261C9F7BC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310101"/>
            <a:ext cx="8097416" cy="387798"/>
          </a:xfrm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 noProof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998485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D74FD12-8E52-FFB8-DD9B-EE2816E0B29F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0681C5E-4D14-5A2B-2375-D884481D88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4EE2EEE-C7CF-FECD-948B-3B9F76445F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DD5ECEB6-C71F-E4C6-C399-F0785596A3C1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7838" y="1008000"/>
            <a:ext cx="11293950" cy="249299"/>
          </a:xfr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it-IT" noProof="0"/>
              <a:t>Contenuto 18 </a:t>
            </a:r>
            <a:r>
              <a:rPr lang="it-IT" noProof="0" err="1"/>
              <a:t>pt</a:t>
            </a:r>
            <a:endParaRPr lang="it-IT" noProof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08F6964-1D02-681A-B37F-B59A62518651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6" name="Connettore dritto 2">
            <a:extLst>
              <a:ext uri="{FF2B5EF4-FFF2-40B4-BE49-F238E27FC236}">
                <a16:creationId xmlns:a16="http://schemas.microsoft.com/office/drawing/2014/main" id="{4AC9300E-FAE9-1CF9-73E1-4E0D887D14E7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163D301-C27B-2087-99BE-8BE6BFE78A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08A32F6B-9C9B-E0C3-A681-2CACFD0E1E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BCB59C01-9FB1-1A82-82F2-47261C9F7BC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310101"/>
            <a:ext cx="8097416" cy="387798"/>
          </a:xfrm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 noProof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46249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D74FD12-8E52-FFB8-DD9B-EE2816E0B29F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0681C5E-4D14-5A2B-2375-D884481D88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C556E81D-700E-3CBD-5D3B-450876F22235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6" name="Connettore dritto 2">
            <a:extLst>
              <a:ext uri="{FF2B5EF4-FFF2-40B4-BE49-F238E27FC236}">
                <a16:creationId xmlns:a16="http://schemas.microsoft.com/office/drawing/2014/main" id="{7564B012-EA81-4C62-DDB3-EBCBA1F17729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A9AA9C63-BD73-3795-F0E0-D7E86FFA78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7AAA7A3-DAA5-1587-B7E4-A20B19D36B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4EE2EEE-C7CF-FECD-948B-3B9F76445F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16" name="Segnaposto testo 2">
            <a:extLst>
              <a:ext uri="{FF2B5EF4-FFF2-40B4-BE49-F238E27FC236}">
                <a16:creationId xmlns:a16="http://schemas.microsoft.com/office/drawing/2014/main" id="{DD5ECEB6-C71F-E4C6-C399-F0785596A3C1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7838" y="1008000"/>
            <a:ext cx="5400000" cy="249299"/>
          </a:xfr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it-IT" noProof="0"/>
              <a:t>Contenuto 18 </a:t>
            </a:r>
            <a:r>
              <a:rPr lang="it-IT" noProof="0" err="1"/>
              <a:t>pt</a:t>
            </a:r>
            <a:endParaRPr lang="it-IT" noProof="0"/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BCB59C01-9FB1-1A82-82F2-47261C9F7BC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310101"/>
            <a:ext cx="8097416" cy="387798"/>
          </a:xfrm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 noProof="0"/>
              <a:t>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060BCC-4ED6-2091-0777-86487002A1F0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71791" y="1008000"/>
            <a:ext cx="5400000" cy="249299"/>
          </a:xfr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it-IT" noProof="0"/>
              <a:t>Contenuto 18 </a:t>
            </a:r>
            <a:r>
              <a:rPr lang="it-IT" noProof="0" err="1"/>
              <a:t>pt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433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Testo + Graf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CB9B1A9F-52A8-705A-CFDF-7FDF39B7D73B}"/>
              </a:ext>
            </a:extLst>
          </p:cNvPr>
          <p:cNvSpPr/>
          <p:nvPr userDrawn="1"/>
        </p:nvSpPr>
        <p:spPr>
          <a:xfrm>
            <a:off x="6096000" y="281969"/>
            <a:ext cx="6096002" cy="5577293"/>
          </a:xfrm>
          <a:prstGeom prst="rect">
            <a:avLst/>
          </a:prstGeom>
          <a:solidFill>
            <a:srgbClr val="271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FB9EDC7-9777-F8DE-BAB4-E569F1F6B0F2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6" name="Connettore dritto 2">
            <a:extLst>
              <a:ext uri="{FF2B5EF4-FFF2-40B4-BE49-F238E27FC236}">
                <a16:creationId xmlns:a16="http://schemas.microsoft.com/office/drawing/2014/main" id="{7B4E3214-6D66-E450-3A01-9A99F70F7544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06F87641-DA34-870B-A028-D1007F5EE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61C0B922-3279-57E9-675A-8991837FA4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CD74FD12-8E52-FFB8-DD9B-EE2816E0B29F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0681C5E-4D14-5A2B-2375-D884481D88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4EE2EEE-C7CF-FECD-948B-3B9F76445F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E6F900-80C8-0DB5-C7FA-851AB1512E1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7838" y="1008000"/>
            <a:ext cx="5367377" cy="249299"/>
          </a:xfr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it-IT" noProof="0"/>
              <a:t>Contenuto 18 </a:t>
            </a:r>
            <a:r>
              <a:rPr lang="it-IT" noProof="0" err="1"/>
              <a:t>pt</a:t>
            </a:r>
            <a:endParaRPr lang="it-IT" noProof="0"/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21911411-B507-83CE-8AA0-D459AC73135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310101"/>
            <a:ext cx="8097416" cy="387798"/>
          </a:xfrm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 noProof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67554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Testo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2F6A8329-C32D-3458-C91A-5682B0A6581D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6" name="Connettore dritto 2">
            <a:extLst>
              <a:ext uri="{FF2B5EF4-FFF2-40B4-BE49-F238E27FC236}">
                <a16:creationId xmlns:a16="http://schemas.microsoft.com/office/drawing/2014/main" id="{2DEED72E-8F2E-77AD-1131-499899AB10E3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9D6F6D05-B16F-F31A-0F99-FFC1145B4E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E78E68D-3CD9-A705-1AE8-9780007767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CD74FD12-8E52-FFB8-DD9B-EE2816E0B29F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0681C5E-4D14-5A2B-2375-D884481D88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4EE2EEE-C7CF-FECD-948B-3B9F76445F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noProof="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 noProof="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E6F900-80C8-0DB5-C7FA-851AB1512E1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7838" y="1008000"/>
            <a:ext cx="5367377" cy="249299"/>
          </a:xfr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it-IT" noProof="0"/>
              <a:t>Contenuto 18 </a:t>
            </a:r>
            <a:r>
              <a:rPr lang="it-IT" noProof="0" err="1"/>
              <a:t>pt</a:t>
            </a:r>
            <a:endParaRPr lang="it-IT" noProof="0"/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21911411-B507-83CE-8AA0-D459AC73135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310101"/>
            <a:ext cx="8097416" cy="387798"/>
          </a:xfrm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 noProof="0"/>
              <a:t>Titolo</a:t>
            </a:r>
          </a:p>
        </p:txBody>
      </p:sp>
      <p:sp>
        <p:nvSpPr>
          <p:cNvPr id="17" name="Segnaposto immagine 15">
            <a:extLst>
              <a:ext uri="{FF2B5EF4-FFF2-40B4-BE49-F238E27FC236}">
                <a16:creationId xmlns:a16="http://schemas.microsoft.com/office/drawing/2014/main" id="{A0611DC5-4F4B-2028-AEF5-EB22C6B818B2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6095998" y="1008001"/>
            <a:ext cx="6096002" cy="4842000"/>
          </a:xfrm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267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g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85FC2BF8-06EA-BB7C-D9A9-528F0F1C5491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10" name="Connettore dritto 2">
            <a:extLst>
              <a:ext uri="{FF2B5EF4-FFF2-40B4-BE49-F238E27FC236}">
                <a16:creationId xmlns:a16="http://schemas.microsoft.com/office/drawing/2014/main" id="{86B5FAB5-E35F-539F-6AC2-A73452BF3356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magine 10">
            <a:extLst>
              <a:ext uri="{FF2B5EF4-FFF2-40B4-BE49-F238E27FC236}">
                <a16:creationId xmlns:a16="http://schemas.microsoft.com/office/drawing/2014/main" id="{EFD59C5C-9E1D-1286-F3F1-71E140ED19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C3F8E71-023D-DF67-29E8-BF8CA106F9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9DA7ED-F702-EFF5-B003-4DF9E8FB54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D1FC59C5-8149-A110-F3B7-9BCB8F9D8CC8}"/>
              </a:ext>
            </a:extLst>
          </p:cNvPr>
          <p:cNvGrpSpPr/>
          <p:nvPr userDrawn="1"/>
        </p:nvGrpSpPr>
        <p:grpSpPr>
          <a:xfrm>
            <a:off x="0" y="5850000"/>
            <a:ext cx="12192000" cy="1008000"/>
            <a:chOff x="0" y="5850000"/>
            <a:chExt cx="12192000" cy="1008000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DC6BBDAB-CD3B-3F41-C298-B7296FC8317E}"/>
                </a:ext>
              </a:extLst>
            </p:cNvPr>
            <p:cNvSpPr/>
            <p:nvPr userDrawn="1"/>
          </p:nvSpPr>
          <p:spPr>
            <a:xfrm>
              <a:off x="0" y="5850000"/>
              <a:ext cx="1219200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/>
            </a:p>
          </p:txBody>
        </p:sp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B3F4B650-8117-CB63-97FF-B91698D79B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689" y="6131970"/>
              <a:ext cx="6286058" cy="444061"/>
            </a:xfrm>
            <a:prstGeom prst="rect">
              <a:avLst/>
            </a:prstGeom>
          </p:spPr>
        </p:pic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801B1281-D2E9-AAA3-64E2-E6F1E02D1183}"/>
                </a:ext>
              </a:extLst>
            </p:cNvPr>
            <p:cNvSpPr txBox="1"/>
            <p:nvPr userDrawn="1">
              <p:extLst>
                <p:ext uri="{1162E1C5-73C7-4A58-AE30-91384D911F3F}">
                  <p184:classification xmlns:p184="http://schemas.microsoft.com/office/powerpoint/2018/4/main" val="ftr"/>
                </p:ext>
              </p:extLst>
            </p:nvPr>
          </p:nvSpPr>
          <p:spPr>
            <a:xfrm>
              <a:off x="4691825" y="6654030"/>
              <a:ext cx="2836862" cy="107722"/>
            </a:xfrm>
            <a:prstGeom prst="rect">
              <a:avLst/>
            </a:prstGeom>
          </p:spPr>
          <p:txBody>
            <a:bodyPr horzOverflow="overflow" lIns="0" tIns="0" rIns="0" bIns="0">
              <a:spAutoFit/>
            </a:bodyPr>
            <a:lstStyle/>
            <a:p>
              <a:pPr algn="ctr"/>
              <a:r>
                <a:rPr lang="it-IT" sz="700" noProof="0">
                  <a:solidFill>
                    <a:srgbClr val="000000">
                      <a:alpha val="50000"/>
                    </a:srgbClr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Informazione ad uso interno - </a:t>
              </a:r>
              <a:r>
                <a:rPr lang="it-IT" sz="700" noProof="0" err="1">
                  <a:solidFill>
                    <a:srgbClr val="000000">
                      <a:alpha val="50000"/>
                    </a:srgbClr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Internal</a:t>
              </a:r>
              <a:r>
                <a:rPr lang="it-IT" sz="700" noProof="0">
                  <a:solidFill>
                    <a:srgbClr val="000000">
                      <a:alpha val="50000"/>
                    </a:srgbClr>
                  </a:solidFill>
                  <a:latin typeface="Arial" panose="020B0604020202020204" pitchFamily="34" charset="0"/>
                  <a:ea typeface="Calibri" panose="020F0502020204030204" pitchFamily="34" charset="0"/>
                  <a:cs typeface="Arial" panose="020B0604020202020204" pitchFamily="34" charset="0"/>
                </a:rPr>
                <a:t> use information</a:t>
              </a:r>
            </a:p>
          </p:txBody>
        </p:sp>
      </p:grpSp>
      <p:sp>
        <p:nvSpPr>
          <p:cNvPr id="14" name="Segnaposto immagine 13">
            <a:extLst>
              <a:ext uri="{FF2B5EF4-FFF2-40B4-BE49-F238E27FC236}">
                <a16:creationId xmlns:a16="http://schemas.microsoft.com/office/drawing/2014/main" id="{B4673ADE-F3CF-4C7D-647B-9733EDE78D86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0" y="1008000"/>
            <a:ext cx="12191999" cy="4842000"/>
          </a:xfrm>
        </p:spPr>
        <p:txBody>
          <a:bodyPr/>
          <a:lstStyle/>
          <a:p>
            <a:endParaRPr lang="it-IT"/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B962CB29-98A0-79CF-905B-C3DD85499F7D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79425" y="310101"/>
            <a:ext cx="8097416" cy="387798"/>
          </a:xfrm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 noProof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52292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9DA7ED-F702-EFF5-B003-4DF9E8FB54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</p:spTree>
    <p:extLst>
      <p:ext uri="{BB962C8B-B14F-4D97-AF65-F5344CB8AC3E}">
        <p14:creationId xmlns:p14="http://schemas.microsoft.com/office/powerpoint/2010/main" val="269674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 B">
    <p:bg>
      <p:bgPr>
        <a:solidFill>
          <a:srgbClr val="2718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CC9541E-89C6-E88E-1718-9BEF52E9AB1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>
                <a:solidFill>
                  <a:schemeClr val="bg1">
                    <a:lumMod val="85000"/>
                    <a:alpha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err="1">
                <a:solidFill>
                  <a:schemeClr val="bg1">
                    <a:lumMod val="85000"/>
                    <a:alpha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>
                <a:solidFill>
                  <a:schemeClr val="bg1">
                    <a:lumMod val="85000"/>
                    <a:alpha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</p:spTree>
    <p:extLst>
      <p:ext uri="{BB962C8B-B14F-4D97-AF65-F5344CB8AC3E}">
        <p14:creationId xmlns:p14="http://schemas.microsoft.com/office/powerpoint/2010/main" val="174912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14EA50FA-BD81-E827-E140-844E8495971E}"/>
              </a:ext>
            </a:extLst>
          </p:cNvPr>
          <p:cNvSpPr/>
          <p:nvPr userDrawn="1"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rgbClr val="271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5CBCD08-0508-FCED-F813-758703234C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6993" y="2298421"/>
            <a:ext cx="2638014" cy="2261155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F5CB843F-8065-2972-6A2D-F943608243E1}"/>
              </a:ext>
            </a:extLst>
          </p:cNvPr>
          <p:cNvSpPr/>
          <p:nvPr userDrawn="1"/>
        </p:nvSpPr>
        <p:spPr>
          <a:xfrm>
            <a:off x="0" y="585000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F44816A-21C7-5BAF-8301-A2E7E5DFDC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9" y="6131970"/>
            <a:ext cx="6286058" cy="44406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4010E9C-F899-414E-EB57-824F12A5A86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91825" y="6654030"/>
            <a:ext cx="2836862" cy="107722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it-IT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Informazione ad uso interno - </a:t>
            </a:r>
            <a:r>
              <a:rPr lang="it-IT" sz="700" err="1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Internal</a:t>
            </a:r>
            <a:r>
              <a:rPr lang="it-IT" sz="7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use information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3BEBDA7-3BA9-D0D5-0F96-D4E4A51BE432}"/>
              </a:ext>
            </a:extLst>
          </p:cNvPr>
          <p:cNvSpPr/>
          <p:nvPr userDrawn="1"/>
        </p:nvSpPr>
        <p:spPr>
          <a:xfrm>
            <a:off x="0" y="0"/>
            <a:ext cx="12192000" cy="10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/>
          </a:p>
        </p:txBody>
      </p:sp>
      <p:cxnSp>
        <p:nvCxnSpPr>
          <p:cNvPr id="6" name="Connettore dritto 2">
            <a:extLst>
              <a:ext uri="{FF2B5EF4-FFF2-40B4-BE49-F238E27FC236}">
                <a16:creationId xmlns:a16="http://schemas.microsoft.com/office/drawing/2014/main" id="{D590DCE7-68B4-3DAC-3D7B-C21BFF04BD16}"/>
              </a:ext>
            </a:extLst>
          </p:cNvPr>
          <p:cNvCxnSpPr>
            <a:cxnSpLocks/>
          </p:cNvCxnSpPr>
          <p:nvPr userDrawn="1"/>
        </p:nvCxnSpPr>
        <p:spPr>
          <a:xfrm>
            <a:off x="11087036" y="281970"/>
            <a:ext cx="0" cy="444061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DB49A6E0-9529-43CE-A230-165A29BCAE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8548" y="250187"/>
            <a:ext cx="627139" cy="52156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606C1F7-04ED-51F8-32E7-4E64ED1B181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35" y="311077"/>
            <a:ext cx="1242547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24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4BD9034-28F1-7D01-9C8E-C713777114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11175"/>
            <a:ext cx="11293475" cy="522288"/>
          </a:xfrm>
        </p:spPr>
        <p:txBody>
          <a:bodyPr/>
          <a:lstStyle>
            <a:lvl1pPr>
              <a:defRPr b="1">
                <a:solidFill>
                  <a:srgbClr val="271888"/>
                </a:solidFill>
              </a:defRPr>
            </a:lvl1pPr>
          </a:lstStyle>
          <a:p>
            <a:pPr lvl="0"/>
            <a:r>
              <a:rPr lang="it-IT"/>
              <a:t>Indice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97406413-C5AE-7D82-E449-042DB3A0CF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6" y="1230313"/>
            <a:ext cx="5616574" cy="473551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rgbClr val="271888"/>
                </a:solidFill>
              </a:defRPr>
            </a:lvl1pPr>
          </a:lstStyle>
          <a:p>
            <a:pPr lvl="0"/>
            <a:r>
              <a:rPr lang="en-US" err="1"/>
              <a:t>Elenco</a:t>
            </a:r>
            <a:r>
              <a:rPr lang="en-US"/>
              <a:t> 18 pt </a:t>
            </a:r>
          </a:p>
          <a:p>
            <a:pPr lvl="0"/>
            <a:r>
              <a:rPr lang="en-US" err="1"/>
              <a:t>Elenco</a:t>
            </a:r>
            <a:r>
              <a:rPr lang="en-US"/>
              <a:t> 18 pt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err="1"/>
              <a:t>Elenco</a:t>
            </a:r>
            <a:r>
              <a:rPr lang="en-US"/>
              <a:t> 18 pt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err="1"/>
              <a:t>Elenco</a:t>
            </a:r>
            <a:r>
              <a:rPr lang="en-US"/>
              <a:t> 18 pt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err="1"/>
              <a:t>Elenco</a:t>
            </a:r>
            <a:r>
              <a:rPr lang="en-US"/>
              <a:t> 18 pt </a:t>
            </a:r>
          </a:p>
          <a:p>
            <a:pPr lvl="0"/>
            <a:endParaRPr lang="it-IT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7206A273-0D21-FF35-86AB-5D0FBE4394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26161" y="2426676"/>
            <a:ext cx="5856203" cy="258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5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5D7EB78-1F24-3D3B-F95F-72B3B8EB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9F12E6-AC4D-C54C-645F-C74704375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0122084-20F3-E710-45F3-BEFD9BF76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D14377-0E91-4FDD-AB2D-B09820EE0BA9}" type="datetimeFigureOut">
              <a:rPr lang="it-IT" smtClean="0"/>
              <a:pPr/>
              <a:t>30/09/2026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013F18-A321-092D-327D-400D1FB6C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E5C9E7-9116-CB55-EF4B-9667E8C8E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A785063-A0C2-40E0-8A21-F1D4E7965A3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00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49" r:id="rId2"/>
    <p:sldLayoutId id="2147483702" r:id="rId3"/>
    <p:sldLayoutId id="2147483696" r:id="rId4"/>
    <p:sldLayoutId id="2147483700" r:id="rId5"/>
    <p:sldLayoutId id="2147483698" r:id="rId6"/>
    <p:sldLayoutId id="2147483701" r:id="rId7"/>
    <p:sldLayoutId id="2147483703" r:id="rId8"/>
    <p:sldLayoutId id="2147483655" r:id="rId9"/>
    <p:sldLayoutId id="2147483667" r:id="rId10"/>
    <p:sldLayoutId id="2147483697" r:id="rId11"/>
    <p:sldLayoutId id="214748370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224F606-6911-8525-42E2-BFEEB77E4A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AD4894-62AF-022D-B257-4F1396DCE4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7D10FAD-B3C8-3A9A-6E73-494D3A08F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1063" y="1849520"/>
            <a:ext cx="5926682" cy="664797"/>
          </a:xfrm>
        </p:spPr>
        <p:txBody>
          <a:bodyPr/>
          <a:lstStyle/>
          <a:p>
            <a:r>
              <a:rPr lang="en-US"/>
              <a:t>Esercizio RACI</a:t>
            </a:r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>
            <a:spLocks noGrp="1"/>
          </p:cNvSpPr>
          <p:nvPr/>
        </p:nvSpPr>
        <p:spPr>
          <a:xfrm>
            <a:off x="477838" y="1140000"/>
            <a:ext cx="11236324" cy="46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it-IT" sz="2200" b="1" dirty="0">
                <a:solidFill>
                  <a:srgbClr val="1F3864"/>
                </a:solidFill>
                <a:latin typeface="Arial" panose="020B0604020202020204" pitchFamily="34" charset="0"/>
              </a:rPr>
              <a:t>Obiettivo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Identificare le anomalie in una matrice RACI volutamente difettosa, motivare ogni errore applicando le regole del modello, e produrre la matrice corretta.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lang="it-IT" sz="2000" b="1" dirty="0">
                <a:solidFill>
                  <a:srgbClr val="2E74B5"/>
                </a:solidFill>
                <a:latin typeface="Arial" panose="020B0604020202020204" pitchFamily="34" charset="0"/>
              </a:rPr>
              <a:t>Scenario: ACME Bus Services</a:t>
            </a:r>
          </a:p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Il processo in esame è l'approvazione di un nuovo KPI di puntualità pullman, proposto dal Direttore Operativo per il report mensile al CDA. La matrice riguarda le sei attività principali del processo.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lang="it-IT" sz="2000" b="1" dirty="0">
                <a:solidFill>
                  <a:srgbClr val="1F3864"/>
                </a:solidFill>
                <a:latin typeface="Arial" panose="020B0604020202020204" pitchFamily="34" charset="0"/>
              </a:rPr>
              <a:t>Istruzioni per il gruppo</a:t>
            </a:r>
          </a:p>
          <a:p>
            <a:pPr>
              <a:spcBef>
                <a:spcPts val="0"/>
              </a:spcBef>
              <a:spcAft>
                <a:spcPts val="6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1. Leggere la matrice nel foglio Excel allegato</a:t>
            </a:r>
          </a:p>
          <a:p>
            <a:pPr>
              <a:spcBef>
                <a:spcPts val="0"/>
              </a:spcBef>
              <a:spcAft>
                <a:spcPts val="6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2. Identificare le celle anomale (quante ne trovate?)</a:t>
            </a:r>
          </a:p>
          <a:p>
            <a:pPr>
              <a:spcBef>
                <a:spcPts val="0"/>
              </a:spcBef>
              <a:spcAft>
                <a:spcPts val="6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3. Per ogni anomalia: indicare la regola RACI violata</a:t>
            </a:r>
          </a:p>
          <a:p>
            <a:pPr>
              <a:spcBef>
                <a:spcPts val="0"/>
              </a:spcBef>
              <a:spcAft>
                <a:spcPts val="6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4. Produrre la matrice corretta nella colonna "Proposta gruppo" del foglio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>
            <a:spLocks noGrp="1"/>
          </p:cNvSpPr>
          <p:nvPr/>
        </p:nvSpPr>
        <p:spPr>
          <a:xfrm>
            <a:off x="477838" y="1440000"/>
            <a:ext cx="640000" cy="5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b"/>
          <p:cNvSpPr>
            <a:spLocks noGrp="1"/>
          </p:cNvSpPr>
          <p:nvPr/>
        </p:nvSpPr>
        <p:spPr>
          <a:xfrm>
            <a:off x="477838" y="1490000"/>
            <a:ext cx="64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2000" b="1" dirty="0">
                <a:solidFill>
                  <a:srgbClr val="FFFFFF"/>
                </a:solidFill>
                <a:latin typeface="Arial" panose="020B0604020202020204" pitchFamily="34" charset="0"/>
              </a:rPr>
              <a:t>DO</a:t>
            </a:r>
          </a:p>
        </p:txBody>
      </p:sp>
      <p:sp>
        <p:nvSpPr>
          <p:cNvPr id="4" name="tb"/>
          <p:cNvSpPr>
            <a:spLocks noGrp="1"/>
          </p:cNvSpPr>
          <p:nvPr/>
        </p:nvSpPr>
        <p:spPr>
          <a:xfrm>
            <a:off x="1177838" y="1480000"/>
            <a:ext cx="10536324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it-IT" sz="1700" b="1" dirty="0">
                <a:solidFill>
                  <a:srgbClr val="1F3864"/>
                </a:solidFill>
                <a:latin typeface="Arial" panose="020B0604020202020204" pitchFamily="34" charset="0"/>
              </a:rPr>
              <a:t>Data Owner — </a:t>
            </a:r>
            <a:r>
              <a:rPr lang="it-IT" sz="1600" dirty="0">
                <a:solidFill>
                  <a:srgbClr val="2C2C2C"/>
                </a:solidFill>
                <a:latin typeface="Arial" panose="020B0604020202020204" pitchFamily="34" charset="0"/>
              </a:rPr>
              <a:t>Direttore Operativo — accountability sul dominio dati Operativo/Flotta</a:t>
            </a:r>
          </a:p>
        </p:txBody>
      </p:sp>
      <p:sp>
        <p:nvSpPr>
          <p:cNvPr id="5" name="rect"/>
          <p:cNvSpPr>
            <a:spLocks noGrp="1"/>
          </p:cNvSpPr>
          <p:nvPr/>
        </p:nvSpPr>
        <p:spPr>
          <a:xfrm>
            <a:off x="477838" y="2070000"/>
            <a:ext cx="640000" cy="58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b"/>
          <p:cNvSpPr>
            <a:spLocks noGrp="1"/>
          </p:cNvSpPr>
          <p:nvPr/>
        </p:nvSpPr>
        <p:spPr>
          <a:xfrm>
            <a:off x="477838" y="2120000"/>
            <a:ext cx="64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2000" b="1" dirty="0">
                <a:solidFill>
                  <a:srgbClr val="FFFFFF"/>
                </a:solidFill>
                <a:latin typeface="Arial" panose="020B0604020202020204" pitchFamily="34" charset="0"/>
              </a:rPr>
              <a:t>BDS</a:t>
            </a:r>
          </a:p>
        </p:txBody>
      </p:sp>
      <p:sp>
        <p:nvSpPr>
          <p:cNvPr id="7" name="tb"/>
          <p:cNvSpPr>
            <a:spLocks noGrp="1"/>
          </p:cNvSpPr>
          <p:nvPr/>
        </p:nvSpPr>
        <p:spPr>
          <a:xfrm>
            <a:off x="1177838" y="2110000"/>
            <a:ext cx="10536324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it-IT" sz="1700" b="1" dirty="0">
                <a:solidFill>
                  <a:srgbClr val="1F3864"/>
                </a:solidFill>
                <a:latin typeface="Arial" panose="020B0604020202020204" pitchFamily="34" charset="0"/>
              </a:rPr>
              <a:t>Business Data Steward — </a:t>
            </a:r>
            <a:r>
              <a:rPr lang="it-IT" sz="1600" dirty="0">
                <a:solidFill>
                  <a:srgbClr val="2C2C2C"/>
                </a:solidFill>
                <a:latin typeface="Arial" panose="020B0604020202020204" pitchFamily="34" charset="0"/>
              </a:rPr>
              <a:t>Analista Operazioni — presidio operativo della qualità dei dati</a:t>
            </a:r>
          </a:p>
        </p:txBody>
      </p:sp>
      <p:sp>
        <p:nvSpPr>
          <p:cNvPr id="8" name="rect"/>
          <p:cNvSpPr>
            <a:spLocks noGrp="1"/>
          </p:cNvSpPr>
          <p:nvPr/>
        </p:nvSpPr>
        <p:spPr>
          <a:xfrm>
            <a:off x="477838" y="2700000"/>
            <a:ext cx="640000" cy="5800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b"/>
          <p:cNvSpPr>
            <a:spLocks noGrp="1"/>
          </p:cNvSpPr>
          <p:nvPr/>
        </p:nvSpPr>
        <p:spPr>
          <a:xfrm>
            <a:off x="477838" y="2750000"/>
            <a:ext cx="64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2000" b="1" dirty="0">
                <a:solidFill>
                  <a:srgbClr val="FFFFFF"/>
                </a:solidFill>
                <a:latin typeface="Arial" panose="020B0604020202020204" pitchFamily="34" charset="0"/>
              </a:rPr>
              <a:t>DC</a:t>
            </a:r>
          </a:p>
        </p:txBody>
      </p:sp>
      <p:sp>
        <p:nvSpPr>
          <p:cNvPr id="10" name="tb"/>
          <p:cNvSpPr>
            <a:spLocks noGrp="1"/>
          </p:cNvSpPr>
          <p:nvPr/>
        </p:nvSpPr>
        <p:spPr>
          <a:xfrm>
            <a:off x="1177838" y="2740000"/>
            <a:ext cx="10536324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it-IT" sz="1700" b="1" dirty="0">
                <a:solidFill>
                  <a:srgbClr val="1F3864"/>
                </a:solidFill>
                <a:latin typeface="Arial" panose="020B0604020202020204" pitchFamily="34" charset="0"/>
              </a:rPr>
              <a:t>Data Custodian / IT — </a:t>
            </a:r>
            <a:r>
              <a:rPr lang="it-IT" sz="1600" dirty="0">
                <a:solidFill>
                  <a:srgbClr val="2C2C2C"/>
                </a:solidFill>
                <a:latin typeface="Arial" panose="020B0604020202020204" pitchFamily="34" charset="0"/>
              </a:rPr>
              <a:t>Responsabile IT — implementazione tecnica delle regole nei sistemi</a:t>
            </a:r>
          </a:p>
        </p:txBody>
      </p:sp>
      <p:sp>
        <p:nvSpPr>
          <p:cNvPr id="11" name="rect"/>
          <p:cNvSpPr>
            <a:spLocks noGrp="1"/>
          </p:cNvSpPr>
          <p:nvPr/>
        </p:nvSpPr>
        <p:spPr>
          <a:xfrm>
            <a:off x="477838" y="3330000"/>
            <a:ext cx="640000" cy="580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b"/>
          <p:cNvSpPr>
            <a:spLocks noGrp="1"/>
          </p:cNvSpPr>
          <p:nvPr/>
        </p:nvSpPr>
        <p:spPr>
          <a:xfrm>
            <a:off x="477838" y="3380000"/>
            <a:ext cx="64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2000" b="1" dirty="0">
                <a:solidFill>
                  <a:srgbClr val="FFFFFF"/>
                </a:solidFill>
                <a:latin typeface="Arial" panose="020B0604020202020204" pitchFamily="34" charset="0"/>
              </a:rPr>
              <a:t>DGC</a:t>
            </a:r>
          </a:p>
        </p:txBody>
      </p:sp>
      <p:sp>
        <p:nvSpPr>
          <p:cNvPr id="13" name="tb"/>
          <p:cNvSpPr>
            <a:spLocks noGrp="1"/>
          </p:cNvSpPr>
          <p:nvPr/>
        </p:nvSpPr>
        <p:spPr>
          <a:xfrm>
            <a:off x="1177838" y="3370000"/>
            <a:ext cx="10536324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it-IT" sz="1700" b="1" dirty="0">
                <a:solidFill>
                  <a:srgbClr val="1F3864"/>
                </a:solidFill>
                <a:latin typeface="Arial" panose="020B0604020202020204" pitchFamily="34" charset="0"/>
              </a:rPr>
              <a:t>Data Governance Council — </a:t>
            </a:r>
            <a:r>
              <a:rPr lang="it-IT" sz="1600" dirty="0">
                <a:solidFill>
                  <a:srgbClr val="2C2C2C"/>
                </a:solidFill>
                <a:latin typeface="Arial" panose="020B0604020202020204" pitchFamily="34" charset="0"/>
              </a:rPr>
              <a:t>Comitato di Data Governance — decisioni cross-dominio e policy</a:t>
            </a:r>
          </a:p>
        </p:txBody>
      </p:sp>
      <p:sp>
        <p:nvSpPr>
          <p:cNvPr id="14" name="rect"/>
          <p:cNvSpPr>
            <a:spLocks noGrp="1"/>
          </p:cNvSpPr>
          <p:nvPr/>
        </p:nvSpPr>
        <p:spPr>
          <a:xfrm>
            <a:off x="477838" y="3960000"/>
            <a:ext cx="640000" cy="58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b"/>
          <p:cNvSpPr>
            <a:spLocks noGrp="1"/>
          </p:cNvSpPr>
          <p:nvPr/>
        </p:nvSpPr>
        <p:spPr>
          <a:xfrm>
            <a:off x="477838" y="4010000"/>
            <a:ext cx="64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2000" b="1" dirty="0">
                <a:solidFill>
                  <a:srgbClr val="FFFFFF"/>
                </a:solidFill>
                <a:latin typeface="Arial" panose="020B0604020202020204" pitchFamily="34" charset="0"/>
              </a:rPr>
              <a:t>CO</a:t>
            </a:r>
          </a:p>
        </p:txBody>
      </p:sp>
      <p:sp>
        <p:nvSpPr>
          <p:cNvPr id="16" name="tb"/>
          <p:cNvSpPr>
            <a:spLocks noGrp="1"/>
          </p:cNvSpPr>
          <p:nvPr/>
        </p:nvSpPr>
        <p:spPr>
          <a:xfrm>
            <a:off x="1177838" y="4000000"/>
            <a:ext cx="10536324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it-IT" sz="1700" b="1" dirty="0">
                <a:solidFill>
                  <a:srgbClr val="1F3864"/>
                </a:solidFill>
                <a:latin typeface="Arial" panose="020B0604020202020204" pitchFamily="34" charset="0"/>
              </a:rPr>
              <a:t>Compliance — </a:t>
            </a:r>
            <a:r>
              <a:rPr lang="it-IT" sz="1600" dirty="0">
                <a:solidFill>
                  <a:srgbClr val="2C2C2C"/>
                </a:solidFill>
                <a:latin typeface="Arial" panose="020B0604020202020204" pitchFamily="34" charset="0"/>
              </a:rPr>
              <a:t>Funzione Compliance — verifica obblighi normativi (GDPR, settoriale)</a:t>
            </a:r>
          </a:p>
        </p:txBody>
      </p:sp>
      <p:sp>
        <p:nvSpPr>
          <p:cNvPr id="17" name="rect"/>
          <p:cNvSpPr>
            <a:spLocks noGrp="1"/>
          </p:cNvSpPr>
          <p:nvPr/>
        </p:nvSpPr>
        <p:spPr>
          <a:xfrm>
            <a:off x="477838" y="4590000"/>
            <a:ext cx="640000" cy="580000"/>
          </a:xfrm>
          <a:prstGeom prst="rect">
            <a:avLst/>
          </a:prstGeom>
          <a:solidFill>
            <a:srgbClr val="E8711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b"/>
          <p:cNvSpPr>
            <a:spLocks noGrp="1"/>
          </p:cNvSpPr>
          <p:nvPr/>
        </p:nvSpPr>
        <p:spPr>
          <a:xfrm>
            <a:off x="477838" y="4640000"/>
            <a:ext cx="640000" cy="4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ctr">
              <a:buNone/>
            </a:pPr>
            <a:r>
              <a:rPr lang="it-IT" sz="2000" b="1" dirty="0">
                <a:solidFill>
                  <a:srgbClr val="FFFFFF"/>
                </a:solidFill>
                <a:latin typeface="Arial" panose="020B0604020202020204" pitchFamily="34" charset="0"/>
              </a:rPr>
              <a:t>UB</a:t>
            </a:r>
          </a:p>
        </p:txBody>
      </p:sp>
      <p:sp>
        <p:nvSpPr>
          <p:cNvPr id="19" name="tb"/>
          <p:cNvSpPr>
            <a:spLocks noGrp="1"/>
          </p:cNvSpPr>
          <p:nvPr/>
        </p:nvSpPr>
        <p:spPr>
          <a:xfrm>
            <a:off x="1177838" y="4630000"/>
            <a:ext cx="10536324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it-IT" sz="1700" b="1" dirty="0">
                <a:solidFill>
                  <a:srgbClr val="1F3864"/>
                </a:solidFill>
                <a:latin typeface="Arial" panose="020B0604020202020204" pitchFamily="34" charset="0"/>
              </a:rPr>
              <a:t>Utente Business — </a:t>
            </a:r>
            <a:r>
              <a:rPr lang="it-IT" sz="1600" dirty="0">
                <a:solidFill>
                  <a:srgbClr val="2C2C2C"/>
                </a:solidFill>
                <a:latin typeface="Arial" panose="020B0604020202020204" pitchFamily="34" charset="0"/>
              </a:rPr>
              <a:t>Data Consumer / Analista che richiede il KPI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>
            <a:spLocks noGrp="1"/>
          </p:cNvSpPr>
          <p:nvPr/>
        </p:nvSpPr>
        <p:spPr>
          <a:xfrm>
            <a:off x="477838" y="1140000"/>
            <a:ext cx="11236324" cy="46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it-IT" sz="1800" b="1" dirty="0">
                <a:solidFill>
                  <a:srgbClr val="1F3864"/>
                </a:solidFill>
                <a:latin typeface="Arial" panose="020B0604020202020204" pitchFamily="34" charset="0"/>
              </a:rPr>
              <a:t>Le quattro regole fondamentali da applicare all'esercizio:</a:t>
            </a:r>
          </a:p>
          <a:p>
            <a:pPr>
              <a:spcBef>
                <a:spcPts val="0"/>
              </a:spcBef>
              <a:spcAft>
                <a:spcPts val="250"/>
              </a:spcAft>
              <a:buNone/>
            </a:pPr>
            <a:r>
              <a:rPr lang="it-IT" sz="1900" b="1" dirty="0">
                <a:solidFill>
                  <a:srgbClr val="E8711A"/>
                </a:solidFill>
                <a:latin typeface="Arial" panose="020B0604020202020204" pitchFamily="34" charset="0"/>
              </a:rPr>
              <a:t>R. 1 — Un solo A per attività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→  per ogni riga della matrice, esattamente un ruolo ha la A. Due A su una riga significa che nessuno risponde davvero del risultato.</a:t>
            </a:r>
          </a:p>
          <a:p>
            <a:pPr>
              <a:spcBef>
                <a:spcPts val="0"/>
              </a:spcBef>
              <a:spcAft>
                <a:spcPts val="250"/>
              </a:spcAft>
              <a:buNone/>
            </a:pPr>
            <a:r>
              <a:rPr lang="it-IT" sz="1900" b="1" dirty="0">
                <a:solidFill>
                  <a:srgbClr val="E8711A"/>
                </a:solidFill>
                <a:latin typeface="Arial" panose="020B0604020202020204" pitchFamily="34" charset="0"/>
              </a:rPr>
              <a:t>R. 2 — Almeno un A obbligatorio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→  un'attività senza A non ha proprietario: le issue restano aperte senza escalation possibile.</a:t>
            </a:r>
          </a:p>
          <a:p>
            <a:pPr>
              <a:spcBef>
                <a:spcPts val="0"/>
              </a:spcBef>
              <a:spcAft>
                <a:spcPts val="250"/>
              </a:spcAft>
              <a:buNone/>
            </a:pPr>
            <a:r>
              <a:rPr lang="it-IT" sz="1900" b="1" dirty="0">
                <a:solidFill>
                  <a:srgbClr val="E8711A"/>
                </a:solidFill>
                <a:latin typeface="Arial" panose="020B0604020202020204" pitchFamily="34" charset="0"/>
              </a:rPr>
              <a:t>R. 3 — Distinzione R / A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→  chi esegue (R) non è necessariamente chi risponde del risultato (A). Un Data Owner non esegue attività tecniche: delega il fare, non l'accountability.</a:t>
            </a:r>
          </a:p>
          <a:p>
            <a:pPr>
              <a:spcBef>
                <a:spcPts val="0"/>
              </a:spcBef>
              <a:spcAft>
                <a:spcPts val="250"/>
              </a:spcAft>
              <a:buNone/>
            </a:pPr>
            <a:r>
              <a:rPr lang="it-IT" sz="1900" b="1" dirty="0">
                <a:solidFill>
                  <a:srgbClr val="E8711A"/>
                </a:solidFill>
                <a:latin typeface="Arial" panose="020B0604020202020204" pitchFamily="34" charset="0"/>
              </a:rPr>
              <a:t>R. 4 — C vs I: il C ha costo organizzativo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→  C = consultazione bidirezionale che richiede tempo; I = informazione unidirezionale. Coinvolgere per C chi non porta valore alla decisione è rumore organizzativo.</a:t>
            </a:r>
          </a:p>
          <a:p>
            <a:pPr>
              <a:spcBef>
                <a:spcPts val="300"/>
              </a:spcBef>
              <a:spcAft>
                <a:spcPts val="0"/>
              </a:spcAft>
              <a:buNone/>
            </a:pPr>
            <a:r>
              <a:rPr lang="it-IT" sz="1700" b="1" dirty="0">
                <a:solidFill>
                  <a:srgbClr val="2E74B5"/>
                </a:solidFill>
                <a:latin typeface="Arial" panose="020B0604020202020204" pitchFamily="34" charset="0"/>
              </a:rPr>
              <a:t>Quante anomalie contiene la matrice? Trovare tutte quelle intenzionali prima di guardare la soluzione.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>
            <a:spLocks noGrp="1"/>
          </p:cNvSpPr>
          <p:nvPr/>
        </p:nvSpPr>
        <p:spPr>
          <a:xfrm>
            <a:off x="477838" y="1140000"/>
            <a:ext cx="11236324" cy="46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it-IT" sz="2200" b="1" dirty="0">
                <a:solidFill>
                  <a:srgbClr val="1F3864"/>
                </a:solidFill>
                <a:latin typeface="Arial" panose="020B0604020202020204" pitchFamily="34" charset="0"/>
              </a:rPr>
              <a:t>Lavoro in breakout room — 20 minuti</a:t>
            </a:r>
          </a:p>
          <a:p>
            <a:pPr>
              <a:spcBef>
                <a:spcPts val="0"/>
              </a:spcBef>
              <a:spcAft>
                <a:spcPts val="80"/>
              </a:spcAft>
              <a:buNone/>
            </a:pPr>
            <a:r>
              <a:rPr lang="it-IT" sz="1800" b="1" dirty="0">
                <a:solidFill>
                  <a:srgbClr val="2E74B5"/>
                </a:solidFill>
                <a:latin typeface="Arial" panose="020B0604020202020204" pitchFamily="34" charset="0"/>
              </a:rPr>
              <a:t>Aprire il file Excel "ACME_RACI_Surgery_Matrice.xlsx"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Il foglio "Matrice_Difettosa" contiene la RACI con le anomalie da trovare.</a:t>
            </a:r>
          </a:p>
          <a:p>
            <a:pPr>
              <a:spcBef>
                <a:spcPts val="0"/>
              </a:spcBef>
              <a:spcAft>
                <a:spcPts val="120"/>
              </a:spcAft>
              <a:buNone/>
            </a:pPr>
            <a:r>
              <a:rPr lang="it-IT" sz="1900" b="1" dirty="0">
                <a:solidFill>
                  <a:srgbClr val="1F3864"/>
                </a:solidFill>
                <a:latin typeface="Arial" panose="020B0604020202020204" pitchFamily="34" charset="0"/>
              </a:rPr>
              <a:t>Consegna del gruppo:</a:t>
            </a:r>
          </a:p>
          <a:p>
            <a:pPr>
              <a:spcBef>
                <a:spcPts val="0"/>
              </a:spcBef>
              <a:spcAft>
                <a:spcPts val="8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1  Elencare le anomalie trovate (numero e descrizione sintetica) nel foglio "Analisi_Gruppo"</a:t>
            </a:r>
          </a:p>
          <a:p>
            <a:pPr>
              <a:spcBef>
                <a:spcPts val="0"/>
              </a:spcBef>
              <a:spcAft>
                <a:spcPts val="8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2  Per ogni anomalia: indicare la regola RACI violata (R.1 / R.2 / R.3 / R.4)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3  Produrre la versione corretta nel foglio "Matrice_Corretta"</a:t>
            </a:r>
          </a:p>
          <a:p>
            <a:pPr>
              <a:spcBef>
                <a:spcPts val="0"/>
              </a:spcBef>
              <a:spcAft>
                <a:spcPts val="120"/>
              </a:spcAft>
              <a:buNone/>
            </a:pPr>
            <a:r>
              <a:rPr lang="it-IT" sz="1800" b="1" dirty="0">
                <a:solidFill>
                  <a:srgbClr val="1F3864"/>
                </a:solidFill>
                <a:latin typeface="Arial" panose="020B0604020202020204" pitchFamily="34" charset="0"/>
              </a:rPr>
              <a:t>Timing:</a:t>
            </a:r>
          </a:p>
          <a:p>
            <a:pPr>
              <a:spcBef>
                <a:spcPts val="0"/>
              </a:spcBef>
              <a:spcAft>
                <a:spcPts val="6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0-15 min — analisi e compilazione matrice corretta in breakout room</a:t>
            </a:r>
          </a:p>
          <a:p>
            <a:pPr>
              <a:spcBef>
                <a:spcPts val="0"/>
              </a:spcBef>
              <a:spcAft>
                <a:spcPts val="6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15-20 min — ogni gruppo prepara 2 righe da presentare in plenaria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20-30 min — debriefing plenario: ogni gruppo presenta un'anomalia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"/>
          <p:cNvSpPr>
            <a:spLocks noGrp="1"/>
          </p:cNvSpPr>
          <p:nvPr/>
        </p:nvSpPr>
        <p:spPr>
          <a:xfrm>
            <a:off x="477838" y="1140000"/>
            <a:ext cx="11236324" cy="467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it-IT" sz="2000" b="1" dirty="0">
                <a:solidFill>
                  <a:srgbClr val="1F3864"/>
                </a:solidFill>
                <a:latin typeface="Arial" panose="020B0604020202020204" pitchFamily="34" charset="0"/>
              </a:rPr>
              <a:t>Domande per il debriefing in plenaria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it-IT" sz="1800" b="1" dirty="0">
                <a:solidFill>
                  <a:srgbClr val="2E74B5"/>
                </a:solidFill>
                <a:latin typeface="Arial" panose="020B0604020202020204" pitchFamily="34" charset="0"/>
              </a:rPr>
              <a:t>1.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Avete trovato tutte e sei le anomalie? Quale è stata la più difficile da riconoscere e perché?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it-IT" sz="1800" b="1" dirty="0">
                <a:solidFill>
                  <a:srgbClr val="2E74B5"/>
                </a:solidFill>
                <a:latin typeface="Arial" panose="020B0604020202020204" pitchFamily="34" charset="0"/>
              </a:rPr>
              <a:t>2.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Sulla riga "Richiedere il nuovo KPI" avevate due A/R. Perché è un problema avere la A sia sul BDS che sull'UB? Cosa succederebbe in una situazione reale?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it-IT" sz="1800" b="1" dirty="0">
                <a:solidFill>
                  <a:srgbClr val="2E74B5"/>
                </a:solidFill>
                <a:latin typeface="Arial" panose="020B0604020202020204" pitchFamily="34" charset="0"/>
              </a:rPr>
              <a:t>3.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Il Data Owner con R su "Implementare nel sistema": è un errore nel modello RACI o una scelta aziendale legittima? Motivare.</a:t>
            </a:r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r>
              <a:rPr lang="it-IT" sz="1800" b="1" dirty="0">
                <a:solidFill>
                  <a:srgbClr val="2E74B5"/>
                </a:solidFill>
                <a:latin typeface="Arial" panose="020B0604020202020204" pitchFamily="34" charset="0"/>
              </a:rPr>
              <a:t>4.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La riga "Approvare l'inclusione nel glossario" non ha A. Chi dovrebbe averla, secondo voi, e perché? Esiste una risposta unica?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2E74B5"/>
                </a:solidFill>
                <a:latin typeface="Arial" panose="020B0604020202020204" pitchFamily="34" charset="0"/>
              </a:rPr>
              <a:t>5.</a:t>
            </a:r>
            <a:r>
              <a:rPr lang="it-IT" sz="1800" dirty="0">
                <a:solidFill>
                  <a:srgbClr val="2C2C2C"/>
                </a:solidFill>
                <a:latin typeface="Arial" panose="020B0604020202020204" pitchFamily="34" charset="0"/>
              </a:rPr>
              <a:t>  Nella vostra organizzazione, avete RACI definite per i processi dati? Se sì, rileggendole ora, trovereste errori analoghi?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06056275B21194E91D5F218BA4B2919" ma:contentTypeVersion="46" ma:contentTypeDescription="Creare un nuovo documento." ma:contentTypeScope="" ma:versionID="bf3038869d4376947fecaf3fa0e48130">
  <xsd:schema xmlns:xsd="http://www.w3.org/2001/XMLSchema" xmlns:xs="http://www.w3.org/2001/XMLSchema" xmlns:p="http://schemas.microsoft.com/office/2006/metadata/properties" xmlns:ns1="http://schemas.microsoft.com/sharepoint/v3" xmlns:ns2="45b689bf-70f7-445d-8a46-662446b82921" xmlns:ns3="9ce1727e-68d7-45dd-8b64-f301df26529c" targetNamespace="http://schemas.microsoft.com/office/2006/metadata/properties" ma:root="true" ma:fieldsID="79d100fe158412420bcecf9adefb3756" ns1:_="" ns2:_="" ns3:_="">
    <xsd:import namespace="http://schemas.microsoft.com/sharepoint/v3"/>
    <xsd:import namespace="45b689bf-70f7-445d-8a46-662446b82921"/>
    <xsd:import namespace="9ce1727e-68d7-45dd-8b64-f301df2652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Area_x0020_tematica" minOccurs="0"/>
                <xsd:element ref="ns3:Sottoarea_x0020_tematica" minOccurs="0"/>
                <xsd:element ref="ns3:Format" minOccurs="0"/>
                <xsd:element ref="ns3:Target" minOccurs="0"/>
                <xsd:element ref="ns3:Lingua" minOccurs="0"/>
                <xsd:element ref="ns3:Note" minOccurs="0"/>
                <xsd:element ref="ns3:MediaServiceBillingMetadata" minOccurs="0"/>
                <xsd:element ref="ns3:Tipologiadocumento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3:Certificazione_x0020_di_x0020_qualit_x00e0_" minOccurs="0"/>
                <xsd:element ref="ns3:tag_index" minOccurs="0"/>
                <xsd:element ref="ns3:idx_area_tematica" minOccurs="0"/>
                <xsd:element ref="ns3:idx_sottoarea_tematica" minOccurs="0"/>
                <xsd:element ref="ns3:idx_tipologia_documento" minOccurs="0"/>
                <xsd:element ref="ns3:idx_format_didattico" minOccurs="0"/>
                <xsd:element ref="ns3:idx_target" minOccurs="0"/>
                <xsd:element ref="ns3:idx_lingua" minOccurs="0"/>
                <xsd:element ref="ns3:keys_area_tematica" minOccurs="0"/>
                <xsd:element ref="ns3:keys_sottoarea_tematica" minOccurs="0"/>
                <xsd:element ref="ns3:keys_tipologia_documento" minOccurs="0"/>
                <xsd:element ref="ns3:keys_format_didattico" minOccurs="0"/>
                <xsd:element ref="ns3:keys_target" minOccurs="0"/>
                <xsd:element ref="ns3:keys_lingu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4" nillable="true" ma:displayName="Valutazione (0-5)" ma:decimals="2" ma:description="Valore medio di tutte le valutazioni inserite" ma:internalName="AverageRating" ma:readOnly="true">
      <xsd:simpleType>
        <xsd:restriction base="dms:Number"/>
      </xsd:simpleType>
    </xsd:element>
    <xsd:element name="RatingCount" ma:index="35" nillable="true" ma:displayName="Numero di valutazioni" ma:decimals="0" ma:description="Numero di valutazioni inserite" ma:internalName="RatingCount" ma:readOnly="true">
      <xsd:simpleType>
        <xsd:restriction base="dms:Number"/>
      </xsd:simpleType>
    </xsd:element>
    <xsd:element name="RatedBy" ma:index="36" nillable="true" ma:displayName="Valutato da" ma:description="Utenti che hanno valutato l'elemento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37" nillable="true" ma:displayName="Valutazioni utente" ma:description="Valutazioni utente per l'elemento" ma:hidden="true" ma:internalName="Ratings">
      <xsd:simpleType>
        <xsd:restriction base="dms:Note"/>
      </xsd:simpleType>
    </xsd:element>
    <xsd:element name="LikesCount" ma:index="38" nillable="true" ma:displayName="Numero di Mi piace" ma:internalName="LikesCount">
      <xsd:simpleType>
        <xsd:restriction base="dms:Unknown"/>
      </xsd:simpleType>
    </xsd:element>
    <xsd:element name="LikedBy" ma:index="39" nillable="true" ma:displayName="Autori Mi piace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689bf-70f7-445d-8a46-662446b829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07bd32c-d7ba-4e0e-8cf8-8f79f5c145fb}" ma:internalName="TaxCatchAll" ma:showField="CatchAllData" ma:web="45b689bf-70f7-445d-8a46-662446b829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e1727e-68d7-45dd-8b64-f301df2652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Tag immagine" ma:readOnly="false" ma:fieldId="{5cf76f15-5ced-4ddc-b409-7134ff3c332f}" ma:taxonomyMulti="true" ma:sspId="cb55ba71-b1e8-4594-a4a4-fd14e4f2a2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rea_x0020_tematica" ma:index="26" nillable="true" ma:displayName="Area tematica" ma:format="Dropdown" ma:internalName="Area_x0020_tematica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oaching &amp; Mentoring"/>
                    <xsd:enumeration value="Comunicazione efficace"/>
                    <xsd:enumeration value="Creatività &amp; innovazione"/>
                    <xsd:enumeration value="Customer Centricity"/>
                    <xsd:enumeration value="Diversity, Equity &amp; Inclusion"/>
                    <xsd:enumeration value="Efficacia personale"/>
                    <xsd:enumeration value="Finanza &amp; economics"/>
                    <xsd:enumeration value="Formazione formatori"/>
                    <xsd:enumeration value="Gestione dei collaboratori/Leadership"/>
                    <xsd:enumeration value="Health, Wellbeing &amp; Welfare"/>
                    <xsd:enumeration value="Integrazione &amp; teamwork"/>
                    <xsd:enumeration value="Marketing &amp; sales"/>
                    <xsd:enumeration value="Negoziazione &amp; Gestione del conflitto"/>
                    <xsd:enumeration value="Normativa"/>
                    <xsd:enumeration value="Problem Solving &amp; Decision Making"/>
                    <xsd:enumeration value="Project Management"/>
                    <xsd:enumeration value="Safety Comportamentale"/>
                    <xsd:enumeration value="Skill Digitali"/>
                    <xsd:enumeration value="Sostenibilità"/>
                    <xsd:enumeration value="Visione strategica"/>
                    <xsd:enumeration value="Intercultura"/>
                    <xsd:enumeration value="Onboarding"/>
                    <xsd:enumeration value="Team building"/>
                  </xsd:restriction>
                </xsd:simpleType>
              </xsd:element>
            </xsd:sequence>
          </xsd:extension>
        </xsd:complexContent>
      </xsd:complexType>
    </xsd:element>
    <xsd:element name="Sottoarea_x0020_tematica" ma:index="27" nillable="true" ma:displayName="Sottoarea tematica" ma:internalName="Sottoarea_x0020_tematica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ccountability"/>
                        <xsd:enumeration value="Agile Project Management"/>
                        <xsd:enumeration value="Alfabetizzazione digitale"/>
                        <xsd:enumeration value="Analisi dei problemi"/>
                        <xsd:enumeration value="Analisi di mercato e dei competitor"/>
                        <xsd:enumeration value="Antifragilità e resilienza"/>
                        <xsd:enumeration value="Antiricilaggio"/>
                        <xsd:enumeration value="Antitrust"/>
                        <xsd:enumeration value="Apertura al cambiamento"/>
                        <xsd:enumeration value="Ascolto attivo"/>
                        <xsd:enumeration value="B2B Marketing"/>
                        <xsd:enumeration value="B2C Marketing"/>
                        <xsd:enumeration value="Big Data"/>
                        <xsd:enumeration value="Business awareness"/>
                        <xsd:enumeration value="Buyer Persona e segmentazione clienti"/>
                        <xsd:enumeration value="Comunicare la safety"/>
                        <xsd:enumeration value="Comunicazione commerciale"/>
                        <xsd:enumeration value="Comunicazione corporate"/>
                        <xsd:enumeration value="Comunicazione di brand"/>
                        <xsd:enumeration value="Comunicazione empatica"/>
                        <xsd:enumeration value="Comunicazione impattante"/>
                        <xsd:enumeration value="Comunicazione telefonica, web, email"/>
                        <xsd:enumeration value="Conformità MIFID/IVASS"/>
                        <xsd:enumeration value="Consapevolezza organizzativa"/>
                        <xsd:enumeration value="Controllo di gestione"/>
                        <xsd:enumeration value="Conversazioni difficili"/>
                        <xsd:enumeration value="CRM (Customer Relationship Management)"/>
                        <xsd:enumeration value="Cultura del servizio al cliente"/>
                        <xsd:enumeration value="Cultura dell'inclusione"/>
                        <xsd:enumeration value="Cultura dell'innovazione"/>
                        <xsd:enumeration value="Customer Care / Contact center / Customer service"/>
                        <xsd:enumeration value="Customer engagement"/>
                        <xsd:enumeration value="Customer Experience / Customer Journey"/>
                        <xsd:enumeration value="Customer management systems (eg: Salesforce)"/>
                        <xsd:enumeration value="Customer Satisfaction / NPS / CLV"/>
                        <xsd:enumeration value="Customer Value Proposition / Customer Promise"/>
                        <xsd:enumeration value="Cybersecurity"/>
                        <xsd:enumeration value="Data analysis"/>
                        <xsd:enumeration value="Data driven marketing"/>
                        <xsd:enumeration value="Data Storytelling"/>
                        <xsd:enumeration value="Decisioni in condizioni di incertezza"/>
                        <xsd:enumeration value="Definizione e trasferimento valori"/>
                        <xsd:enumeration value="Delega"/>
                        <xsd:enumeration value="Design Thinking"/>
                        <xsd:enumeration value="Digital &amp; Social media Marketing"/>
                        <xsd:enumeration value="Digital Mindset"/>
                        <xsd:enumeration value="Digital Transformation"/>
                        <xsd:enumeration value="Direct Marketing"/>
                        <xsd:enumeration value="Efficacia personale"/>
                        <xsd:enumeration value="Employee empowerment"/>
                        <xsd:enumeration value="Equilibrio vita-lavoro"/>
                        <xsd:enumeration value="ESG"/>
                        <xsd:enumeration value="Feedback"/>
                        <xsd:enumeration value="Finanza aziendale"/>
                        <xsd:enumeration value="Fondamenti di economia"/>
                        <xsd:enumeration value="Formazione alla progettazione"/>
                        <xsd:enumeration value="Formazione di prodotto"/>
                        <xsd:enumeration value="Formazione formatori safety"/>
                        <xsd:enumeration value="Formazione tecnica"/>
                        <xsd:enumeration value="Genitorialità"/>
                        <xsd:enumeration value="Gestione degli stakeholders"/>
                        <xsd:enumeration value="Gestione dei bias"/>
                        <xsd:enumeration value="Gestione dei reclami / delle obiezioni"/>
                        <xsd:enumeration value="Gestione del cambiamento"/>
                        <xsd:enumeration value="Gestione del cliente (al telefono, via chat, via email, in presenza etc..)"/>
                        <xsd:enumeration value="Gestione del conflitto"/>
                        <xsd:enumeration value="Gestione del rischio"/>
                        <xsd:enumeration value="Gestione della complessità"/>
                        <xsd:enumeration value="Gestione della diversità culturale"/>
                        <xsd:enumeration value="Gestione dell'aula"/>
                        <xsd:enumeration value="Gestione delle riunioni"/>
                        <xsd:enumeration value="Gestione economica del punto vendita"/>
                        <xsd:enumeration value="Gestione per obiettivi"/>
                        <xsd:enumeration value="Group coaching"/>
                        <xsd:enumeration value="Group mentoring"/>
                        <xsd:enumeration value="Growth Mindset"/>
                        <xsd:enumeration value="HSE Leadership"/>
                        <xsd:enumeration value="Human factor"/>
                        <xsd:enumeration value="Inclusione delle neurodiversità"/>
                        <xsd:enumeration value="Inclusione delle persone con disabilità"/>
                        <xsd:enumeration value="Inclusione di genere e identità di genere"/>
                        <xsd:enumeration value="Inclusione intergenerazionale"/>
                        <xsd:enumeration value="Integrazione interfunzionale"/>
                        <xsd:enumeration value="Intelligenza artificiale"/>
                        <xsd:enumeration value="Intelligenza emotiva"/>
                        <xsd:enumeration value="Investimenti e rischio"/>
                        <xsd:enumeration value="Lead generation"/>
                        <xsd:enumeration value="Learning Agility"/>
                        <xsd:enumeration value="Market Abuse"/>
                        <xsd:enumeration value="Media planning"/>
                        <xsd:enumeration value="Mentoring"/>
                        <xsd:enumeration value="Microsoft Office"/>
                        <xsd:enumeration value="Miglioramento continuo"/>
                        <xsd:enumeration value="Mindfulness"/>
                        <xsd:enumeration value="Modello organizzativo 231 (Ec)"/>
                        <xsd:enumeration value="Monitoraggio e controllo"/>
                        <xsd:enumeration value="Motivazione del team"/>
                        <xsd:enumeration value="Multichannel/Omnichannel management"/>
                        <xsd:enumeration value="Multichannel/Omnichannel marketing"/>
                        <xsd:enumeration value="Networking"/>
                        <xsd:enumeration value="Normative ISO"/>
                        <xsd:enumeration value="Orientamento al cliente"/>
                        <xsd:enumeration value="Orientamento al futuro/Future thinking"/>
                        <xsd:enumeration value="Pensiero critico"/>
                        <xsd:enumeration value="Pensiero Laterale"/>
                        <xsd:enumeration value="Pensiero sistemico"/>
                        <xsd:enumeration value="Pensiero strategico"/>
                        <xsd:enumeration value="Performance management"/>
                        <xsd:enumeration value="Personal branding"/>
                        <xsd:enumeration value="Pianificazione commerciale"/>
                        <xsd:enumeration value="Pianificazione dei progetti"/>
                        <xsd:enumeration value="Presentazioni efficaci"/>
                        <xsd:enumeration value="Privacy GDPR (EC)"/>
                        <xsd:enumeration value="Procedure interne"/>
                        <xsd:enumeration value="Procurement sostenibile"/>
                        <xsd:enumeration value="Psychological safety"/>
                        <xsd:enumeration value="Pubbliche relazioni"/>
                        <xsd:enumeration value="Public Speaking"/>
                        <xsd:enumeration value="Purpose &amp; Vision"/>
                        <xsd:enumeration value="Responsabilità sociale d’impresa"/>
                        <xsd:enumeration value="Retail marketing"/>
                        <xsd:enumeration value="Retail media"/>
                        <xsd:enumeration value="Safety Coaching"/>
                        <xsd:enumeration value="Safety Culture"/>
                        <xsd:enumeration value="Salute (motivazione, nutrizione, mental health, ecc..)"/>
                        <xsd:enumeration value="Scrittura efficace"/>
                        <xsd:enumeration value="Self confidence"/>
                        <xsd:enumeration value="Storytelling"/>
                        <xsd:enumeration value="Strategia di marketing"/>
                        <xsd:enumeration value="Sviluppo delle persone"/>
                        <xsd:enumeration value="Team coaching"/>
                        <xsd:enumeration value="Teambuilding"/>
                        <xsd:enumeration value="Teamwork"/>
                        <xsd:enumeration value="Tecniche di buddy coaching"/>
                        <xsd:enumeration value="Tecniche di coaching"/>
                        <xsd:enumeration value="Tecniche di counseling"/>
                        <xsd:enumeration value="Tecniche di gestione dello stress"/>
                        <xsd:enumeration value="Tecniche di negoziazione"/>
                        <xsd:enumeration value="Tecniche di negoziazione"/>
                        <xsd:enumeration value="Tecniche di risoluzione dei problemi"/>
                        <xsd:enumeration value="Tecniche di vendita"/>
                        <xsd:enumeration value="Time management"/>
                        <xsd:enumeration value="Trade marketing"/>
                        <xsd:enumeration value="Upselling e cross-selling"/>
                        <xsd:enumeration value="UX Design"/>
                        <xsd:enumeration value="Variabili di rischio individuale"/>
                        <xsd:enumeration value="Variabili di rischio organizzativo"/>
                        <xsd:enumeration value="Welfare coaching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Format" ma:index="28" nillable="true" ma:displayName="Format didattico" ma:format="Dropdown" ma:internalName="Format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rticoli"/>
                        <xsd:enumeration value="Business Case"/>
                        <xsd:enumeration value="Clip Film"/>
                        <xsd:enumeration value="Domande Duello"/>
                        <xsd:enumeration value="Edugame"/>
                        <xsd:enumeration value="Esercitazione di gruppo"/>
                        <xsd:enumeration value="Esercitazione/riflessione individuale"/>
                        <xsd:enumeration value="Fact Finding"/>
                        <xsd:enumeration value="Infografica"/>
                        <xsd:enumeration value="Interactive tool (Sit com, situation room, storia a bivi, ecc…)"/>
                        <xsd:enumeration value="Learning Magazine"/>
                        <xsd:enumeration value="Learning Playlist/Linkografia"/>
                        <xsd:enumeration value="Microtattiche"/>
                        <xsd:enumeration value="Podcast"/>
                        <xsd:enumeration value="Profiling/Questionari"/>
                        <xsd:enumeration value="Questionario di apprendimento"/>
                        <xsd:enumeration value="Tutorial"/>
                        <xsd:enumeration value="Video Intervista"/>
                        <xsd:enumeration value="Video Pill"/>
                        <xsd:enumeration value="Testimonianze"/>
                        <xsd:enumeration value="Casi studio"/>
                        <xsd:enumeration value="Video interattivo"/>
                        <xsd:enumeration value="Webinar"/>
                        <xsd:enumeration value="Aula in presenza"/>
                        <xsd:enumeration value="Booklet / Diario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Target" ma:index="29" nillable="true" ma:displayName="Target" ma:format="Dropdown" ma:internalName="Target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Neoassunti"/>
                        <xsd:enumeration value="Professional"/>
                        <xsd:enumeration value="Manager"/>
                        <xsd:enumeration value="Front line"/>
                        <xsd:enumeration value="Commerciali"/>
                        <xsd:enumeration value="Talenti"/>
                        <xsd:enumeration value="Operai"/>
                        <xsd:enumeration value="Executive"/>
                        <xsd:enumeration value="Tutti"/>
                        <xsd:enumeration value="Tecnici"/>
                        <xsd:enumeration value="HR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Lingua" ma:index="30" nillable="true" ma:displayName="Lingua" ma:internalName="Lingua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Italiano"/>
                        <xsd:enumeration value="Inglese"/>
                        <xsd:enumeration value="Francese"/>
                        <xsd:enumeration value="Spagnolo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Note" ma:index="31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  <xsd:element name="Tipologiadocumento" ma:index="33" nillable="true" ma:displayName="Tipologia documento" ma:format="Dropdown" ma:internalName="Tipologiadocumento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Concept"/>
                        <xsd:enumeration value="Macroprogettazione"/>
                        <xsd:enumeration value="Microprogettazione"/>
                        <xsd:enumeration value="Scheda corso"/>
                        <xsd:enumeration value="Relazione tecnica"/>
                        <xsd:enumeration value="Specifiche funzionali"/>
                        <xsd:enumeration value="Istruzioni/materiali"/>
                        <xsd:enumeration value="Brochure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Certificazione_x0020_di_x0020_qualit_x00e0_" ma:index="40" nillable="true" ma:displayName="Certificazione di qualità" ma:default="0" ma:description="Il documento è stato certificato da personale incaricato e altamente competente." ma:indexed="true" ma:internalName="Certificazione_x0020_di_x0020_qualit_x00e0_">
      <xsd:simpleType>
        <xsd:restriction base="dms:Boolean"/>
      </xsd:simpleType>
    </xsd:element>
    <xsd:element name="tag_index" ma:index="41" nillable="true" ma:displayName="tag_index" ma:description="Indice utilizzato nelle ricerche" ma:internalName="tag_index">
      <xsd:simpleType>
        <xsd:restriction base="dms:Text">
          <xsd:maxLength value="255"/>
        </xsd:restriction>
      </xsd:simpleType>
    </xsd:element>
    <xsd:element name="idx_area_tematica" ma:index="42" nillable="true" ma:displayName="idx_area_tematica" ma:description="Indice per il campo area tematica" ma:indexed="true" ma:internalName="idx_area_tematica">
      <xsd:simpleType>
        <xsd:restriction base="dms:Text">
          <xsd:maxLength value="255"/>
        </xsd:restriction>
      </xsd:simpleType>
    </xsd:element>
    <xsd:element name="idx_sottoarea_tematica" ma:index="43" nillable="true" ma:displayName="idx_sottoarea_tematica" ma:indexed="true" ma:internalName="idx_sottoarea_tematica">
      <xsd:simpleType>
        <xsd:restriction base="dms:Text">
          <xsd:maxLength value="255"/>
        </xsd:restriction>
      </xsd:simpleType>
    </xsd:element>
    <xsd:element name="idx_tipologia_documento" ma:index="44" nillable="true" ma:displayName="idx_tipologia_documento" ma:indexed="true" ma:internalName="idx_tipologia_documento">
      <xsd:simpleType>
        <xsd:restriction base="dms:Text">
          <xsd:maxLength value="255"/>
        </xsd:restriction>
      </xsd:simpleType>
    </xsd:element>
    <xsd:element name="idx_format_didattico" ma:index="45" nillable="true" ma:displayName="idx_format_didattico" ma:indexed="true" ma:internalName="idx_format_didattico">
      <xsd:simpleType>
        <xsd:restriction base="dms:Text">
          <xsd:maxLength value="255"/>
        </xsd:restriction>
      </xsd:simpleType>
    </xsd:element>
    <xsd:element name="idx_target" ma:index="46" nillable="true" ma:displayName="idx_target" ma:indexed="true" ma:internalName="idx_target">
      <xsd:simpleType>
        <xsd:restriction base="dms:Text">
          <xsd:maxLength value="255"/>
        </xsd:restriction>
      </xsd:simpleType>
    </xsd:element>
    <xsd:element name="idx_lingua" ma:index="47" nillable="true" ma:displayName="idx_lingua" ma:indexed="true" ma:internalName="idx_lingua">
      <xsd:simpleType>
        <xsd:restriction base="dms:Text">
          <xsd:maxLength value="255"/>
        </xsd:restriction>
      </xsd:simpleType>
    </xsd:element>
    <xsd:element name="keys_area_tematica" ma:index="48" nillable="true" ma:displayName="keys_area_tematica" ma:internalName="keys_area_tematica">
      <xsd:simpleType>
        <xsd:restriction base="dms:Text">
          <xsd:maxLength value="255"/>
        </xsd:restriction>
      </xsd:simpleType>
    </xsd:element>
    <xsd:element name="keys_sottoarea_tematica" ma:index="49" nillable="true" ma:displayName="keys_sottoarea_tematica" ma:internalName="keys_sottoarea_tematica">
      <xsd:simpleType>
        <xsd:restriction base="dms:Text">
          <xsd:maxLength value="255"/>
        </xsd:restriction>
      </xsd:simpleType>
    </xsd:element>
    <xsd:element name="keys_tipologia_documento" ma:index="50" nillable="true" ma:displayName="keys_tipologia_documento" ma:internalName="keys_tipologia_documento">
      <xsd:simpleType>
        <xsd:restriction base="dms:Text">
          <xsd:maxLength value="255"/>
        </xsd:restriction>
      </xsd:simpleType>
    </xsd:element>
    <xsd:element name="keys_format_didattico" ma:index="51" nillable="true" ma:displayName="keys_format_didattico" ma:internalName="keys_format_didattico">
      <xsd:simpleType>
        <xsd:restriction base="dms:Text">
          <xsd:maxLength value="255"/>
        </xsd:restriction>
      </xsd:simpleType>
    </xsd:element>
    <xsd:element name="keys_target" ma:index="52" nillable="true" ma:displayName="keys_target" ma:internalName="keys_target">
      <xsd:simpleType>
        <xsd:restriction base="dms:Text">
          <xsd:maxLength value="255"/>
        </xsd:restriction>
      </xsd:simpleType>
    </xsd:element>
    <xsd:element name="keys_lingua" ma:index="53" nillable="true" ma:displayName="keys_lingua" ma:internalName="keys_lingua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ce1727e-68d7-45dd-8b64-f301df26529c">
      <Terms xmlns="http://schemas.microsoft.com/office/infopath/2007/PartnerControls"/>
    </lcf76f155ced4ddcb4097134ff3c332f>
    <LikesCount xmlns="http://schemas.microsoft.com/sharepoint/v3" xsi:nil="true"/>
    <idx_area_tematica xmlns="9ce1727e-68d7-45dd-8b64-f301df26529c" xsi:nil="true"/>
    <Sottoarea_x0020_tematica xmlns="9ce1727e-68d7-45dd-8b64-f301df26529c" xsi:nil="true"/>
    <idx_tipologia_documento xmlns="9ce1727e-68d7-45dd-8b64-f301df26529c" xsi:nil="true"/>
    <Target xmlns="9ce1727e-68d7-45dd-8b64-f301df26529c" xsi:nil="true"/>
    <Lingua xmlns="9ce1727e-68d7-45dd-8b64-f301df26529c" xsi:nil="true"/>
    <keys_target xmlns="9ce1727e-68d7-45dd-8b64-f301df26529c" xsi:nil="true"/>
    <tag_index xmlns="9ce1727e-68d7-45dd-8b64-f301df26529c" xsi:nil="true"/>
    <Tipologiadocumento xmlns="9ce1727e-68d7-45dd-8b64-f301df26529c" xsi:nil="true"/>
    <Ratings xmlns="http://schemas.microsoft.com/sharepoint/v3" xsi:nil="true"/>
    <Area_x0020_tematica xmlns="9ce1727e-68d7-45dd-8b64-f301df26529c" xsi:nil="true"/>
    <Note xmlns="9ce1727e-68d7-45dd-8b64-f301df26529c" xsi:nil="true"/>
    <idx_lingua xmlns="9ce1727e-68d7-45dd-8b64-f301df26529c" xsi:nil="true"/>
    <Format xmlns="9ce1727e-68d7-45dd-8b64-f301df26529c" xsi:nil="true"/>
    <LikedBy xmlns="http://schemas.microsoft.com/sharepoint/v3">
      <UserInfo>
        <DisplayName/>
        <AccountId xsi:nil="true"/>
        <AccountType/>
      </UserInfo>
    </LikedBy>
    <keys_sottoarea_tematica xmlns="9ce1727e-68d7-45dd-8b64-f301df26529c" xsi:nil="true"/>
    <keys_tipologia_documento xmlns="9ce1727e-68d7-45dd-8b64-f301df26529c" xsi:nil="true"/>
    <keys_format_didattico xmlns="9ce1727e-68d7-45dd-8b64-f301df26529c" xsi:nil="true"/>
    <Certificazione_x0020_di_x0020_qualit_x00e0_ xmlns="9ce1727e-68d7-45dd-8b64-f301df26529c">false</Certificazione_x0020_di_x0020_qualit_x00e0_>
    <idx_sottoarea_tematica xmlns="9ce1727e-68d7-45dd-8b64-f301df26529c" xsi:nil="true"/>
    <idx_target xmlns="9ce1727e-68d7-45dd-8b64-f301df26529c" xsi:nil="true"/>
    <keys_lingua xmlns="9ce1727e-68d7-45dd-8b64-f301df26529c" xsi:nil="true"/>
    <TaxCatchAll xmlns="45b689bf-70f7-445d-8a46-662446b82921" xsi:nil="true"/>
    <keys_area_tematica xmlns="9ce1727e-68d7-45dd-8b64-f301df26529c" xsi:nil="true"/>
    <RatedBy xmlns="http://schemas.microsoft.com/sharepoint/v3">
      <UserInfo>
        <DisplayName/>
        <AccountId xsi:nil="true"/>
        <AccountType/>
      </UserInfo>
    </RatedBy>
    <idx_format_didattico xmlns="9ce1727e-68d7-45dd-8b64-f301df26529c" xsi:nil="true"/>
  </documentManagement>
</p:properties>
</file>

<file path=customXml/itemProps1.xml><?xml version="1.0" encoding="utf-8"?>
<ds:datastoreItem xmlns:ds="http://schemas.openxmlformats.org/officeDocument/2006/customXml" ds:itemID="{3033B42F-6C2B-4C39-8EC6-3432E8346D06}">
  <ds:schemaRefs>
    <ds:schemaRef ds:uri="45b689bf-70f7-445d-8a46-662446b82921"/>
    <ds:schemaRef ds:uri="9ce1727e-68d7-45dd-8b64-f301df2652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5B7E0BA-7698-4996-823B-48C85507BF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8D9F43-7688-4B9A-B7AA-D8AA9BCEA461}">
  <ds:schemaRefs>
    <ds:schemaRef ds:uri="45b689bf-70f7-445d-8a46-662446b82921"/>
    <ds:schemaRef ds:uri="9ce1727e-68d7-45dd-8b64-f301df2652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b782be6-e6a5-4101-a7de-41439f4eed01}" enabled="1" method="Privileged" siteId="{eccd734e-7022-4709-aba5-a5dd77929e2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Segoe UI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Intellera Consulting S.r.l.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Natalie Chiaravalloti</dc:creator>
  <cp:lastModifiedBy>Massimo Giustiniani</cp:lastModifiedBy>
  <cp:revision>2</cp:revision>
  <dcterms:created xsi:type="dcterms:W3CDTF">2024-05-02T12:53:53Z</dcterms:created>
  <dcterms:modified xsi:type="dcterms:W3CDTF">2026-09-30T08:35:26Z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0x010100F06056275B21194E91D5F218BA4B2919</vt:lpwstr>
  </property>
  <property fmtid="{D5CDD505-2E9C-101B-9397-08002B2CF9AE}" pid="3" name="MediaServiceImageTags">
    <vt:lpwstr/>
  </property>
  <property fmtid="{D5CDD505-2E9C-101B-9397-08002B2CF9AE}" pid="4" name="Order">
    <vt:r8>136100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SIP_Label_886719c9-282b-4f1b-a005-55ab1b897fee_Enabled">
    <vt:lpwstr>true</vt:lpwstr>
  </property>
  <property fmtid="{D5CDD505-2E9C-101B-9397-08002B2CF9AE}" pid="12" name="MSIP_Label_886719c9-282b-4f1b-a005-55ab1b897fee_SetDate">
    <vt:lpwstr>2025-09-29T10:30:51Z</vt:lpwstr>
  </property>
  <property fmtid="{D5CDD505-2E9C-101B-9397-08002B2CF9AE}" pid="13" name="MSIP_Label_886719c9-282b-4f1b-a005-55ab1b897fee_Method">
    <vt:lpwstr>Standard</vt:lpwstr>
  </property>
  <property fmtid="{D5CDD505-2E9C-101B-9397-08002B2CF9AE}" pid="14" name="MSIP_Label_886719c9-282b-4f1b-a005-55ab1b897fee_Name">
    <vt:lpwstr>Internal use without protection</vt:lpwstr>
  </property>
  <property fmtid="{D5CDD505-2E9C-101B-9397-08002B2CF9AE}" pid="15" name="MSIP_Label_886719c9-282b-4f1b-a005-55ab1b897fee_SiteId">
    <vt:lpwstr>4c8a6547-459a-4b75-a3dc-f66efe3e9c4e</vt:lpwstr>
  </property>
  <property fmtid="{D5CDD505-2E9C-101B-9397-08002B2CF9AE}" pid="16" name="MSIP_Label_886719c9-282b-4f1b-a005-55ab1b897fee_ActionId">
    <vt:lpwstr>15c66825-3782-41ba-a097-12d93c04159e</vt:lpwstr>
  </property>
  <property fmtid="{D5CDD505-2E9C-101B-9397-08002B2CF9AE}" pid="17" name="MSIP_Label_886719c9-282b-4f1b-a005-55ab1b897fee_ContentBits">
    <vt:lpwstr>2</vt:lpwstr>
  </property>
  <property fmtid="{D5CDD505-2E9C-101B-9397-08002B2CF9AE}" pid="18" name="MSIP_Label_886719c9-282b-4f1b-a005-55ab1b897fee_Tag">
    <vt:lpwstr>10, 3, 0, 1</vt:lpwstr>
  </property>
  <property fmtid="{D5CDD505-2E9C-101B-9397-08002B2CF9AE}" pid="19" name="ClassificationContentMarkingFooterLocations">
    <vt:lpwstr>Tema di Office:8\Personalizza struttura:8</vt:lpwstr>
  </property>
  <property fmtid="{D5CDD505-2E9C-101B-9397-08002B2CF9AE}" pid="20" name="ClassificationContentMarkingFooterText">
    <vt:lpwstr>Informazione ad uso interno - Internal use information</vt:lpwstr>
  </property>
</Properties>
</file>